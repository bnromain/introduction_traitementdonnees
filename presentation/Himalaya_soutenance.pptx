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Romain ouvre. Accroche : des centaines d'expeditions chaque annee, toutes ne reussissent pas. Notre defi : predire le succes AVANT le depart.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Romain. Poser le probleme metier et l'enjeu pratique. Insister : on s'interdit tout ce qui n'est pas connu avant le depart. Cible equilibree 55/45 -&gt; logistique, accuracy honnete, baseline a battre = 55%.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Romain. Volume et types de variables. Montrer qu'on a discipline le jeu : reduction, nettoyage minime (jeu de bonne qualite). Pointer la heatmap : ce qui correle avec le succes, et la redondance tothired/totmembers (annonce le ratio). Finir sur le leakage = fil rouge.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Loriziano. Le storytelling fort : 3 hypotheses, 1 survit. Raconter ratio_hired (gardee, preuve chiffree). Puis la fausse interaction o2xsaison : on a cherche et trouve la variable confondante (sommet tente). rope_bool : zero signal. Message : on n'a rien garde au feeling.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Loriziano. Pourquoi logistique. Resultat clef : 69,3% en CV vs 55% baseline. Montrer les coefficients : o2 et comrte dominent, sommets vs AmaDablam. Twist honnete : ratio_hired s'effondre une fois o2/comrte presents (signal absorbe). camps exclu = leakage. Optimisation ne cree pas de signal inexistant.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Romain ferme. Resumer la hierarchie o2 &gt; comrte &gt; sommet. Insister sur les deux lecons metier (leakage, correlation vs causalite) : c'est ce qui distingue une vraie analyse. Pistes d'amelioration honnetes. Remercier, ouvrir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Peut-on prédire le succès</a:t>
            </a:r>
          </a:p>
          <a:p>
            <a:r>
              <a:rPr sz="4600" b="1">
                <a:solidFill>
                  <a:srgbClr val="FFFFFF"/>
                </a:solidFill>
              </a:rPr>
              <a:t>d'une expédition himalayenne ?</a:t>
            </a:r>
          </a:p>
          <a:p>
            <a:pPr>
              <a:spcBef>
                <a:spcPts val="1800"/>
              </a:spcBef>
            </a:pPr>
            <a:r>
              <a:rPr sz="1800" i="1">
                <a:solidFill>
                  <a:srgbClr val="CFDCEA"/>
                </a:solidFill>
              </a:rPr>
              <a:t>… à partir des seules informations connues avant le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Romain Ben  ·  Loriziano Soave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FDCEA"/>
                </a:solidFill>
              </a:rPr>
              <a:t>Introduction au Traitement des Données — Polytech Nice Sophia, MAM3</a:t>
            </a:r>
          </a:p>
          <a:p>
            <a:r>
              <a:rPr sz="1300" i="1">
                <a:solidFill>
                  <a:srgbClr val="AFC4D8"/>
                </a:solidFill>
              </a:rPr>
              <a:t>Projet Kaggle — Himalayan Expeditions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"/>
            <a:ext cx="10607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Business goal</a:t>
            </a:r>
          </a:p>
          <a:p>
            <a:r>
              <a:rPr sz="1400" i="1">
                <a:solidFill>
                  <a:srgbClr val="CFDCEA"/>
                </a:solidFill>
              </a:rPr>
              <a:t>Quel dataset ? Pourquoi est-il utile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F3A5F"/>
                </a:solidFill>
              </a:rPr>
              <a:t>La question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</a:rPr>
              <a:t>–  Prédire si une expédition atteindra le sommet, avec les seules infos connues AVANT le départ.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F3A5F"/>
                </a:solidFill>
              </a:rPr>
              <a:t>Pourquoi c'est utile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</a:rPr>
              <a:t>–  Une agence, un assureur ou un chef de cordée peuvent estimer leurs chances quand il est encore temps d'ajuster équipe, matériel et stratégie.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F3A5F"/>
                </a:solidFill>
              </a:rPr>
              <a:t>Le cadre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</a:rPr>
              <a:t>–  Cible binaire succès / échec  -&gt;  classification  -&gt;  régression logistique.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F3A5F"/>
                </a:solidFill>
              </a:rPr>
              <a:t>Le jeu de données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</a:rPr>
              <a:t>–  Himalayan Expeditions (Kaggle), issu de la base historique d'E. Hawley : 11 425 expéditions.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54480"/>
            <a:ext cx="4297680" cy="420624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/>
            <a:r>
              <a:rPr sz="6000" b="1">
                <a:solidFill>
                  <a:srgbClr val="27AE60"/>
                </a:solidFill>
              </a:rPr>
              <a:t>55 %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222222"/>
                </a:solidFill>
              </a:rPr>
              <a:t>de succès, 45 % d'échec</a:t>
            </a:r>
          </a:p>
          <a:p>
            <a:pPr algn="ctr">
              <a:spcBef>
                <a:spcPts val="1400"/>
              </a:spcBef>
            </a:pPr>
            <a:r>
              <a:rPr sz="1400" b="0">
                <a:solidFill>
                  <a:srgbClr val="555555"/>
                </a:solidFill>
              </a:rPr>
              <a:t>Cible quasi équilibrée</a:t>
            </a:r>
          </a:p>
          <a:p>
            <a:pPr algn="ctr">
              <a:spcBef>
                <a:spcPts val="1000"/>
              </a:spcBef>
            </a:pPr>
            <a:r>
              <a:rPr sz="1400" b="1">
                <a:solidFill>
                  <a:srgbClr val="1F3A5F"/>
                </a:solidFill>
              </a:rPr>
              <a:t>=&gt; l'accuracy est une métrique honnête, pas besoin de rééquilibrage</a:t>
            </a:r>
          </a:p>
          <a:p>
            <a:pPr algn="ctr">
              <a:spcBef>
                <a:spcPts val="1400"/>
              </a:spcBef>
            </a:pPr>
            <a:r>
              <a:rPr sz="1300" b="0">
                <a:solidFill>
                  <a:srgbClr val="555555"/>
                </a:solidFill>
              </a:rPr>
              <a:t>Une « baseline » naïve plafonne donc à 55 %.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85655" y="6382512"/>
            <a:ext cx="2331720" cy="310896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F3A5F"/>
                </a:solidFill>
              </a:rPr>
              <a:t>Orateur : Romain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"/>
            <a:ext cx="10607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Data description</a:t>
            </a:r>
          </a:p>
          <a:p>
            <a:r>
              <a:rPr sz="1400" i="1">
                <a:solidFill>
                  <a:srgbClr val="CFDCEA"/>
                </a:solidFill>
              </a:rPr>
              <a:t>Combien de variables ? Quels types ? Quels pièges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309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F3A5F"/>
                </a:solidFill>
              </a:rPr>
              <a:t>Du brut au exploitable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222222"/>
                </a:solidFill>
              </a:rPr>
              <a:t>–  65 colonnes brutes  -&gt;  ~20 (sélection Kaggle)  -&gt;  8 prédicteurs retenus + la cible.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222222"/>
                </a:solidFill>
              </a:rPr>
              <a:t>–  Après nettoyage : 11 362 expéditions (–0,6 %).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F3A5F"/>
                </a:solidFill>
              </a:rPr>
              <a:t>Trois types de variables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222222"/>
                </a:solidFill>
              </a:rPr>
              <a:t>–  Booléens : o2used, comrte (route commerciale).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222222"/>
                </a:solidFill>
              </a:rPr>
              <a:t>–  Numériques : tothired, totmembers, year.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222222"/>
                </a:solidFill>
              </a:rPr>
              <a:t>–  Catégorielles : season, peakid (one-hot, top 8 sommets + Autre).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C0392B"/>
                </a:solidFill>
              </a:rPr>
              <a:t>Le piège : data leakage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222222"/>
                </a:solidFill>
              </a:rPr>
              <a:t>–  On exclut tout ce qui décrit l'APRÈS (décès, dates de sommet, durée) : prédire avec le résultat n'a pas de sens.</a:t>
            </a:r>
          </a:p>
        </p:txBody>
      </p:sp>
      <p:pic>
        <p:nvPicPr>
          <p:cNvPr id="7" name="Picture 6" descr="04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49977"/>
            <a:ext cx="4937760" cy="42323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3720" y="5806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Corrélations : o2used (0,32) et comrte ressortent ; tothired/totmembers redondants (0,58).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85655" y="6382512"/>
            <a:ext cx="2331720" cy="310896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F3A5F"/>
                </a:solidFill>
              </a:rPr>
              <a:t>Orateur : Romain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"/>
            <a:ext cx="10607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Handcrafted features</a:t>
            </a:r>
          </a:p>
          <a:p>
            <a:r>
              <a:rPr sz="1400" i="1">
                <a:solidFill>
                  <a:srgbClr val="CFDCEA"/>
                </a:solidFill>
              </a:rPr>
              <a:t>Trois hypothèses testées, une seule survit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27AE60"/>
                </a:solidFill>
              </a:rPr>
              <a:t>ratio_hired = Sherpas / membres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–  GARDÉE. À équipe égale, le succès monte avec la proportion de Sherpas : 49 % (ratio&lt;0,5) -&gt; 64 % (0,5–1).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</a:rPr>
              <a:t>o2used × season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–  REJETÉE. Fausse interaction : l'effet venait du sommet tenté (Everest au printemps), pas de la saison. Variable confondante.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</a:rPr>
              <a:t>rope_bool (corde fixe posée)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–  REJETÉE. Aucun signal (55 % vs 54 %), et risque de leakage (posée pendant l'ascension).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</a:rPr>
              <a:t>Rejeter ses propres hypothèses = cœur de la démarche scientifique.</a:t>
            </a:r>
          </a:p>
        </p:txBody>
      </p:sp>
      <p:pic>
        <p:nvPicPr>
          <p:cNvPr id="7" name="Picture 6" descr="03_sherpas_vs_memb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215661"/>
            <a:ext cx="3154680" cy="2426676"/>
          </a:xfrm>
          <a:prstGeom prst="rect">
            <a:avLst/>
          </a:prstGeom>
        </p:spPr>
      </p:pic>
      <p:pic>
        <p:nvPicPr>
          <p:cNvPr id="8" name="Picture 7" descr="02_interaction_o2_sa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414995"/>
            <a:ext cx="3154680" cy="2028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06440" y="56235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GARDÉE : le ratio de Sherpas compte.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56235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REJETÉE : « interaction » = artefact.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85655" y="6382512"/>
            <a:ext cx="2331720" cy="310896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F3A5F"/>
                </a:solidFill>
              </a:rPr>
              <a:t>Orateur : Loriziano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"/>
            <a:ext cx="10607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Régression logistique</a:t>
            </a:r>
          </a:p>
          <a:p>
            <a:r>
              <a:rPr sz="1400" i="1">
                <a:solidFill>
                  <a:srgbClr val="CFDCEA"/>
                </a:solidFill>
              </a:rPr>
              <a:t>Cible binaire -&gt; probabilité, et coefficients interprétables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22222"/>
                </a:solidFill>
              </a:rPr>
              <a:t>•  Pourquoi la logistique : cible binaire (pas linéaire, pas softmax) + coefficients lisibles.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22222"/>
                </a:solidFill>
              </a:rPr>
              <a:t>•  Pipeline anti-leakage : standardisation recalculée sur le train à chaque pli.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22222"/>
                </a:solidFill>
              </a:rPr>
              <a:t>•  Validé en croisée (5 plis) et Holdout : résultats concordants.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C0392B"/>
                </a:solidFill>
              </a:rPr>
              <a:t>•  camps EXCLU (leakage) : Everest 22 % (2 camps) -&gt; 71 % (3 camps).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22222"/>
                </a:solidFill>
              </a:rPr>
              <a:t>•  Optimisation (GridSearch sur C) : gain nul, défauts déjà quasi optimaux.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72000"/>
            <a:ext cx="5486400" cy="18288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</a:rPr>
              <a:t>Accuracy (validation)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</a:rPr>
              <a:t>Baseline (classe majoritaire)</a:t>
            </a:r>
            <a:r>
              <a:rPr sz="1500" b="1">
                <a:solidFill>
                  <a:srgbClr val="222222"/>
                </a:solidFill>
              </a:rPr>
              <a:t>   55,0 %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</a:rPr>
              <a:t>Holdout 80/20</a:t>
            </a:r>
            <a:r>
              <a:rPr sz="1500" b="1">
                <a:solidFill>
                  <a:srgbClr val="222222"/>
                </a:solidFill>
              </a:rPr>
              <a:t>   69,7 %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</a:rPr>
              <a:t>Validation croisée (5 plis)</a:t>
            </a:r>
            <a:r>
              <a:rPr sz="1500" b="1">
                <a:solidFill>
                  <a:srgbClr val="27AE60"/>
                </a:solidFill>
              </a:rPr>
              <a:t>   69,3 % ± 1,1 %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</a:rPr>
              <a:t>Précision 75 %  ·  Rappel 66 %  ·  ROC-AUC 0,75</a:t>
            </a:r>
          </a:p>
        </p:txBody>
      </p:sp>
      <p:pic>
        <p:nvPicPr>
          <p:cNvPr id="8" name="Picture 7" descr="09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54034"/>
            <a:ext cx="5715000" cy="48985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6172200"/>
            <a:ext cx="5715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Oxygène (+2,03) et route commerciale (+1,39) écrasent tout ; ratio_hired s'effondre (+0,02).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85655" y="6382512"/>
            <a:ext cx="2331720" cy="310896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F3A5F"/>
                </a:solidFill>
              </a:rPr>
              <a:t>Orateur : Loriziano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"/>
            <a:ext cx="10607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Conclusion</a:t>
            </a:r>
          </a:p>
          <a:p>
            <a:r>
              <a:rPr sz="1400" i="1">
                <a:solidFill>
                  <a:srgbClr val="CFDCEA"/>
                </a:solidFill>
              </a:rPr>
              <a:t>Bénéfices, limites et pistes d'amélioration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3A5F"/>
                </a:solidFill>
              </a:rPr>
              <a:t>Une hiérarchie claire des facteurs de succès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</a:rPr>
              <a:t>–  1. Oxygène   2. Route commerciale (encadrement)   3. Difficulté du sommet.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</a:rPr>
              <a:t>–  69,3 % d'accuracy, loin devant la baseline de 55 %, et cohérent avec le bon sens alpin.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3A5F"/>
                </a:solidFill>
              </a:rPr>
              <a:t>Deux pièges identifiés et évités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C0392B"/>
                </a:solidFill>
              </a:rPr>
              <a:t>–  Data leakage (camps) : une variable séduisante contenait le résultat.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C0392B"/>
                </a:solidFill>
              </a:rPr>
              <a:t>–  Corrélation ≠ causalité : la fausse interaction O2 × saison.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3A5F"/>
                </a:solidFill>
              </a:rPr>
              <a:t>Peut-on faire mieux ?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</a:rPr>
              <a:t>–  Ajouter l'altitude du sommet (continue) plutôt que peakid en one-hot.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</a:rPr>
              <a:t>–  Tester un modèle non linéaire pour des interactions plus fines, en restant vigilant sur le leakage.</a:t>
            </a:r>
          </a:p>
        </p:txBody>
      </p:sp>
      <p:pic>
        <p:nvPicPr>
          <p:cNvPr id="7" name="Picture 6" descr="01_effet_oxyg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57400"/>
            <a:ext cx="466344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6600" y="5669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Le message à retenir : l'oxygène fait basculer le succès de 45 % à 80 %.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85655" y="6382512"/>
            <a:ext cx="2331720" cy="310896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F3A5F"/>
                </a:solidFill>
              </a:rPr>
              <a:t>Orateur : Romain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